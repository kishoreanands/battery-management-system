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280160"/>
            <a:ext cx="2926080" cy="4206240"/>
          </a:xfrm>
          <a:prstGeom prst="roundRect">
            <a:avLst>
              <a:gd name="adj" fmla="val 5625"/>
            </a:avLst>
          </a:prstGeom>
          <a:solidFill>
            <a:srgbClr val="028090"/>
          </a:solidFill>
          <a:ln w="12700">
            <a:solidFill>
              <a:srgbClr val="1349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1143000"/>
            <a:ext cx="2926080" cy="4206240"/>
          </a:xfrm>
          <a:prstGeom prst="roundRect">
            <a:avLst>
              <a:gd name="adj" fmla="val 5625"/>
            </a:avLst>
          </a:prstGeom>
          <a:solidFill>
            <a:srgbClr val="0F3B3F"/>
          </a:solidFill>
          <a:ln w="12700">
            <a:solidFill>
              <a:srgbClr val="1349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005840"/>
            <a:ext cx="2926080" cy="4206240"/>
          </a:xfrm>
          <a:prstGeom prst="roundRect">
            <a:avLst>
              <a:gd name="adj" fmla="val 5625"/>
            </a:avLst>
          </a:prstGeom>
          <a:solidFill>
            <a:srgbClr val="0F3B3F"/>
          </a:solidFill>
          <a:ln w="12700">
            <a:solidFill>
              <a:srgbClr val="1349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868680"/>
            <a:ext cx="2926080" cy="4206240"/>
          </a:xfrm>
          <a:prstGeom prst="roundRect">
            <a:avLst>
              <a:gd name="adj" fmla="val 5625"/>
            </a:avLst>
          </a:prstGeom>
          <a:solidFill>
            <a:srgbClr val="0F3B3F"/>
          </a:solidFill>
          <a:ln w="12700">
            <a:solidFill>
              <a:srgbClr val="1349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9601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27432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ENGINEERING 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Management System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Dual-Battery Charging, Switching &amp; Thermal Protection for EVs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17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Arduino-based BMS  •  Automatic Cooling  •  Real-Time Monitoring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GitHub Project Showcase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Battery Management System (BMS) is an Arduino-based Electric Vehicle project built to improve battery performance, ensure operational safety, and deliver uninterrupted power to the vehicle.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rechargeable batteries work in tandem: one powers the vehicle while four onboard DC motors generate energy to charge the other. Once the charging battery hits its target voltage, the Arduino automatically swaps roles — keeping the vehicle running continuously.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6002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F3F8F7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7373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14032" y="25146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41080" y="16002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F3F8F7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17373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714232" y="25146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Motors for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241280" y="16002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F3F8F7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0" y="17373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0314432" y="25146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Cooling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System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40880" y="3429000"/>
            <a:ext cx="4617720" cy="2651760"/>
          </a:xfrm>
          <a:prstGeom prst="roundRect">
            <a:avLst>
              <a:gd name="adj" fmla="val 4138"/>
            </a:avLst>
          </a:prstGeom>
          <a:solidFill>
            <a:srgbClr val="0B2B2E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3639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AT THE 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60920" y="402336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LM35 temperature sensor continuously watches battery temperature. Crossing the safe threshold triggers the cooling fan automatically — protecting the pack and extending its usable life.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F3F8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8366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6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smart Battery Management System for EVs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F3F8F7"/>
          </a:solidFill>
          <a:ln/>
        </p:spPr>
      </p:sp>
      <p:sp>
        <p:nvSpPr>
          <p:cNvPr id="9" name="Shape 7"/>
          <p:cNvSpPr/>
          <p:nvPr/>
        </p:nvSpPr>
        <p:spPr>
          <a:xfrm>
            <a:off x="6373368" y="188366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6" dirty="0"/>
          </a:p>
        </p:txBody>
      </p:sp>
      <p:sp>
        <p:nvSpPr>
          <p:cNvPr id="11" name="Text 9"/>
          <p:cNvSpPr/>
          <p:nvPr/>
        </p:nvSpPr>
        <p:spPr>
          <a:xfrm>
            <a:off x="7086600" y="1691640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battery temperature continuously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F3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12724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127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6" dirty="0"/>
          </a:p>
        </p:txBody>
      </p:sp>
      <p:sp>
        <p:nvSpPr>
          <p:cNvPr id="15" name="Text 13"/>
          <p:cNvSpPr/>
          <p:nvPr/>
        </p:nvSpPr>
        <p:spPr>
          <a:xfrm>
            <a:off x="1463040" y="2935224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overheating with automatic cooling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843784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F3F8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3368" y="312724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3127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6" dirty="0"/>
          </a:p>
        </p:txBody>
      </p:sp>
      <p:sp>
        <p:nvSpPr>
          <p:cNvPr id="19" name="Text 17"/>
          <p:cNvSpPr/>
          <p:nvPr/>
        </p:nvSpPr>
        <p:spPr>
          <a:xfrm>
            <a:off x="7086600" y="2935224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switch between two batteries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087368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F3F8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437083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370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6" dirty="0"/>
          </a:p>
        </p:txBody>
      </p:sp>
      <p:sp>
        <p:nvSpPr>
          <p:cNvPr id="23" name="Text 21"/>
          <p:cNvSpPr/>
          <p:nvPr/>
        </p:nvSpPr>
        <p:spPr>
          <a:xfrm>
            <a:off x="1463040" y="4178808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battery voltages in real time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4087368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F3F8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3368" y="437083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4370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56" dirty="0"/>
          </a:p>
        </p:txBody>
      </p:sp>
      <p:sp>
        <p:nvSpPr>
          <p:cNvPr id="27" name="Text 25"/>
          <p:cNvSpPr/>
          <p:nvPr/>
        </p:nvSpPr>
        <p:spPr>
          <a:xfrm>
            <a:off x="7086600" y="4178808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charging voltage during operation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330952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F3F8F7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" y="5614416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614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56" dirty="0"/>
          </a:p>
        </p:txBody>
      </p:sp>
      <p:sp>
        <p:nvSpPr>
          <p:cNvPr id="31" name="Text 29"/>
          <p:cNvSpPr/>
          <p:nvPr/>
        </p:nvSpPr>
        <p:spPr>
          <a:xfrm>
            <a:off x="1463040" y="5422392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battery efficiency and lifespan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72200" y="5330952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F3F8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373368" y="5614416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6373368" y="5614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56" dirty="0"/>
          </a:p>
        </p:txBody>
      </p:sp>
      <p:sp>
        <p:nvSpPr>
          <p:cNvPr id="35" name="Text 33"/>
          <p:cNvSpPr/>
          <p:nvPr/>
        </p:nvSpPr>
        <p:spPr>
          <a:xfrm>
            <a:off x="7086600" y="5422392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uninterrupted vehicle power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1993392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208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Temperature Monitoring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0540" y="1993392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32054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</a:t>
            </a:r>
            <a:endParaRPr lang="en-US" sz="208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Cooling Fan Control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55180" y="1993392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15518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</a:t>
            </a:r>
            <a:endParaRPr lang="en-US" sz="2080" dirty="0"/>
          </a:p>
        </p:txBody>
      </p:sp>
      <p:sp>
        <p:nvSpPr>
          <p:cNvPr id="15" name="Text 13"/>
          <p:cNvSpPr/>
          <p:nvPr/>
        </p:nvSpPr>
        <p:spPr>
          <a:xfrm>
            <a:off x="635508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Battery Management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89820" y="1993392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998982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80" dirty="0"/>
          </a:p>
        </p:txBody>
      </p:sp>
      <p:sp>
        <p:nvSpPr>
          <p:cNvPr id="19" name="Text 17"/>
          <p:cNvSpPr/>
          <p:nvPr/>
        </p:nvSpPr>
        <p:spPr>
          <a:xfrm>
            <a:off x="918972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Battery Switching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4279392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1485900" y="4279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80" dirty="0"/>
          </a:p>
        </p:txBody>
      </p:sp>
      <p:sp>
        <p:nvSpPr>
          <p:cNvPr id="23" name="Text 21"/>
          <p:cNvSpPr/>
          <p:nvPr/>
        </p:nvSpPr>
        <p:spPr>
          <a:xfrm>
            <a:off x="685800" y="5120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Voltage Monitoring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4023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20540" y="4279392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4279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80" dirty="0"/>
          </a:p>
        </p:txBody>
      </p:sp>
      <p:sp>
        <p:nvSpPr>
          <p:cNvPr id="27" name="Text 25"/>
          <p:cNvSpPr/>
          <p:nvPr/>
        </p:nvSpPr>
        <p:spPr>
          <a:xfrm>
            <a:off x="3520440" y="5120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Voltage Monitoring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023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5180" y="4279392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7155180" y="4279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080" dirty="0"/>
          </a:p>
        </p:txBody>
      </p:sp>
      <p:sp>
        <p:nvSpPr>
          <p:cNvPr id="31" name="Text 29"/>
          <p:cNvSpPr/>
          <p:nvPr/>
        </p:nvSpPr>
        <p:spPr>
          <a:xfrm>
            <a:off x="6355080" y="5120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DC Motor Charging Mechanism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52560" y="40233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89820" y="4279392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9989820" y="4279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080" dirty="0"/>
          </a:p>
        </p:txBody>
      </p:sp>
      <p:sp>
        <p:nvSpPr>
          <p:cNvPr id="35" name="Text 33"/>
          <p:cNvSpPr/>
          <p:nvPr/>
        </p:nvSpPr>
        <p:spPr>
          <a:xfrm>
            <a:off x="9189720" y="5120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Overheat Protection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0" y="160020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3F8F7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Sensor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2148840"/>
            <a:ext cx="0" cy="4114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256032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Controller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3200400"/>
            <a:ext cx="-4663440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3200400"/>
            <a:ext cx="0" cy="4114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3200400"/>
            <a:ext cx="0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3200400"/>
            <a:ext cx="0" cy="4114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80760" y="3200400"/>
            <a:ext cx="4023360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04120" y="3200400"/>
            <a:ext cx="0" cy="4114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4320" y="36118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3F8F7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Fan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37760" y="36118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3F8F7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Monitoring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61120" y="36118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3F8F7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80760" y="4160520"/>
            <a:ext cx="0" cy="4114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80560" y="457200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4572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Management Unit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0" y="5166360"/>
            <a:ext cx="3337560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553212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F3F8F7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5532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(Power Source)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18320" y="5166360"/>
            <a:ext cx="-3337560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0" y="553212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F3F8F7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5532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(Charging)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5166360"/>
            <a:ext cx="0" cy="36576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64040" y="160020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3F8F7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64040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DC Motors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561320" y="2148840"/>
            <a:ext cx="0" cy="33832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607040" y="3017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Battery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charging circuit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flow: sensor input → controller logic → cooling / monitoring / switching outputs → dual-battery operation, supplemented by continuous motor-driven charging.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Startup to Thermal Safety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206240"/>
          </a:xfrm>
          <a:prstGeom prst="roundRect">
            <a:avLst>
              <a:gd name="adj" fmla="val 3590"/>
            </a:avLst>
          </a:prstGeom>
          <a:solidFill>
            <a:srgbClr val="F3F8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E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Startup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1 supplies power to the vehicle while Battery 2 stays connected to the charging circuit.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566160" cy="4206240"/>
          </a:xfrm>
          <a:prstGeom prst="roundRect">
            <a:avLst>
              <a:gd name="adj" fmla="val 3590"/>
            </a:avLst>
          </a:prstGeom>
          <a:solidFill>
            <a:srgbClr val="F3F8F7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E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45152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Process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5152" y="33832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onboard DC motors generate electrical energy, which is routed to charge the secondary battery.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93024" y="1691640"/>
            <a:ext cx="3566160" cy="4206240"/>
          </a:xfrm>
          <a:prstGeom prst="roundRect">
            <a:avLst>
              <a:gd name="adj" fmla="val 359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467344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67344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Monitoring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67344" y="33832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LM35 sensor continuously tracks battery temperature. Above the safe threshold, the cooling fan turns on automatically; it switches off once temperature normalizes.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 Monitoring &amp; Automatic Switching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Voltage Monitoring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1 Voltage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2 Voltage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Voltage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Battery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Battery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Automatic Battery Switching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1 powers the vehicle while Battery 2 charges. Once Battery 2 is full, the Arduino swaps roles — Battery 2 powers the vehicle while Battery 1 charges. This cycle repeats automatically throughout operation.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Management Process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0" y="210312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103120"/>
            <a:ext cx="2665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Status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432036" y="2103120"/>
            <a:ext cx="1997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2560320"/>
            <a:ext cx="4846320" cy="566928"/>
          </a:xfrm>
          <a:prstGeom prst="rect">
            <a:avLst/>
          </a:prstGeom>
          <a:solidFill>
            <a:srgbClr val="F3F8F7"/>
          </a:solidFill>
          <a:ln w="9525">
            <a:solidFill>
              <a:srgbClr val="E4E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560320"/>
            <a:ext cx="2665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32036" y="2560320"/>
            <a:ext cx="1997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Vehicle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3127248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E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3127248"/>
            <a:ext cx="2665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32036" y="3127248"/>
            <a:ext cx="1997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3694176"/>
            <a:ext cx="4846320" cy="566928"/>
          </a:xfrm>
          <a:prstGeom prst="rect">
            <a:avLst/>
          </a:prstGeom>
          <a:solidFill>
            <a:srgbClr val="D7F0EC"/>
          </a:solidFill>
          <a:ln w="9525">
            <a:solidFill>
              <a:srgbClr val="E4E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3694176"/>
            <a:ext cx="2665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2 Fully Charged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32036" y="3694176"/>
            <a:ext cx="1997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Switching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4261104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4261104"/>
            <a:ext cx="2665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32036" y="4261104"/>
            <a:ext cx="1997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Vehicle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4828032"/>
            <a:ext cx="4846320" cy="566928"/>
          </a:xfrm>
          <a:prstGeom prst="rect">
            <a:avLst/>
          </a:prstGeom>
          <a:solidFill>
            <a:srgbClr val="F3F8F7"/>
          </a:solidFill>
          <a:ln w="9525">
            <a:solidFill>
              <a:srgbClr val="E4EE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828032"/>
            <a:ext cx="2665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32036" y="4828032"/>
            <a:ext cx="1997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&amp; TELEMETRY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Protection &amp; Live Monitoring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206240"/>
          </a:xfrm>
          <a:prstGeom prst="roundRect">
            <a:avLst>
              <a:gd name="adj" fmla="val 3043"/>
            </a:avLst>
          </a:prstGeom>
          <a:solidFill>
            <a:srgbClr val="0B2B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Temperature Protection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continuously checks battery temperature and reacts automatically: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310896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13494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3255264"/>
            <a:ext cx="1097280" cy="393192"/>
          </a:xfrm>
          <a:prstGeom prst="roundRect">
            <a:avLst>
              <a:gd name="adj" fmla="val 51163"/>
            </a:avLst>
          </a:prstGeom>
          <a:solidFill>
            <a:srgbClr val="9FD8CE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325526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97764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13494D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Threshold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60520" y="4123944"/>
            <a:ext cx="1097280" cy="393192"/>
          </a:xfrm>
          <a:prstGeom prst="roundRect">
            <a:avLst>
              <a:gd name="adj" fmla="val 51163"/>
            </a:avLst>
          </a:prstGeom>
          <a:solidFill>
            <a:srgbClr val="F9C74F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412394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F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automatic cooling mechanism protects the battery pack from overheating and improves battery life.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1874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Live System Monitoring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35040" y="242316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F3F8F7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4231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Temperature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61120" y="242316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F3F8F7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24231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1 Voltage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0" y="342900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F3F8F7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429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2 Voltage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961120" y="342900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F3F8F7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3429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Voltage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0" y="443484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F3F8F7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44348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Battery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961120" y="443484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F3F8F7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44348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Fan Status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Hardware Components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3F8F7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22631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/ Nano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3F8F7"/>
          </a:solidFill>
          <a:ln/>
        </p:spPr>
      </p:sp>
      <p:sp>
        <p:nvSpPr>
          <p:cNvPr id="9" name="Shape 7"/>
          <p:cNvSpPr/>
          <p:nvPr/>
        </p:nvSpPr>
        <p:spPr>
          <a:xfrm>
            <a:off x="3511296" y="22631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LM35 Temperature Sensor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3F8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656" y="299466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DC Motors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74320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3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511296" y="299466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Rechargeable Batteries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3F8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" y="372618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74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Relay Module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47472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3F8F7"/>
          </a:solidFill>
          <a:ln/>
        </p:spPr>
      </p:sp>
      <p:sp>
        <p:nvSpPr>
          <p:cNvPr id="21" name="Shape 19"/>
          <p:cNvSpPr/>
          <p:nvPr/>
        </p:nvSpPr>
        <p:spPr>
          <a:xfrm>
            <a:off x="3511296" y="372618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3474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Fan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3F8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" y="44577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206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&amp; Charging Voltage Sensors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420624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3F8F7"/>
          </a:solidFill>
          <a:ln/>
        </p:spPr>
      </p:sp>
      <p:sp>
        <p:nvSpPr>
          <p:cNvPr id="27" name="Shape 25"/>
          <p:cNvSpPr/>
          <p:nvPr/>
        </p:nvSpPr>
        <p:spPr>
          <a:xfrm>
            <a:off x="3511296" y="44577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3703320" y="4206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Management Circuit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3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76656" y="51892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937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 Module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49377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3F8F7"/>
          </a:solidFill>
          <a:ln/>
        </p:spPr>
      </p:sp>
      <p:sp>
        <p:nvSpPr>
          <p:cNvPr id="33" name="Shape 31"/>
          <p:cNvSpPr/>
          <p:nvPr/>
        </p:nvSpPr>
        <p:spPr>
          <a:xfrm>
            <a:off x="3511296" y="51892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3703320" y="4937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Chassis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1600200"/>
            <a:ext cx="4297680" cy="1965960"/>
          </a:xfrm>
          <a:prstGeom prst="roundRect">
            <a:avLst>
              <a:gd name="adj" fmla="val 6512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Software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772400" y="2240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 (Arduino Programming)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0" y="3794760"/>
            <a:ext cx="4297680" cy="2057400"/>
          </a:xfrm>
          <a:prstGeom prst="roundRect">
            <a:avLst>
              <a:gd name="adj" fmla="val 6222"/>
            </a:avLst>
          </a:prstGeom>
          <a:solidFill>
            <a:srgbClr val="F3F8F7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3977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589520" y="43891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automatic temperature control, dual-battery switching, voltage monitoring, and charging management into one system — enhancing safety, efficiency, and continuous power delivery for educational and prototype EVs.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4812" y="2057400"/>
            <a:ext cx="768096" cy="7680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924812" y="20574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84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184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73852" y="2057400"/>
            <a:ext cx="768096" cy="7680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673852" y="20574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84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</a:t>
            </a:r>
            <a:endParaRPr lang="en-US" sz="2184" dirty="0"/>
          </a:p>
        </p:txBody>
      </p:sp>
      <p:sp>
        <p:nvSpPr>
          <p:cNvPr id="11" name="Text 9"/>
          <p:cNvSpPr/>
          <p:nvPr/>
        </p:nvSpPr>
        <p:spPr>
          <a:xfrm>
            <a:off x="4480560" y="2971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Bikes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22892" y="2057400"/>
            <a:ext cx="768096" cy="7680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422892" y="20574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84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🛴</a:t>
            </a:r>
            <a:endParaRPr lang="en-US" sz="2184" dirty="0"/>
          </a:p>
        </p:txBody>
      </p:sp>
      <p:sp>
        <p:nvSpPr>
          <p:cNvPr id="15" name="Text 13"/>
          <p:cNvSpPr/>
          <p:nvPr/>
        </p:nvSpPr>
        <p:spPr>
          <a:xfrm>
            <a:off x="8229600" y="2971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Scooters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4812" y="4297680"/>
            <a:ext cx="768096" cy="7680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924812" y="4297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84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</a:t>
            </a:r>
            <a:endParaRPr lang="en-US" sz="2184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Battery Systems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7680" y="4023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73852" y="4297680"/>
            <a:ext cx="768096" cy="7680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673852" y="4297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84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🌞</a:t>
            </a:r>
            <a:endParaRPr lang="en-US" sz="2184" dirty="0"/>
          </a:p>
        </p:txBody>
      </p:sp>
      <p:sp>
        <p:nvSpPr>
          <p:cNvPr id="23" name="Text 21"/>
          <p:cNvSpPr/>
          <p:nvPr/>
        </p:nvSpPr>
        <p:spPr>
          <a:xfrm>
            <a:off x="4480560" y="5212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Systems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4023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0F3B3F"/>
          </a:solidFill>
          <a:ln w="12700">
            <a:solidFill>
              <a:srgbClr val="185C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22892" y="4297680"/>
            <a:ext cx="768096" cy="7680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9422892" y="4297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84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184" dirty="0"/>
          </a:p>
        </p:txBody>
      </p:sp>
      <p:sp>
        <p:nvSpPr>
          <p:cNvPr id="27" name="Text 25"/>
          <p:cNvSpPr/>
          <p:nvPr/>
        </p:nvSpPr>
        <p:spPr>
          <a:xfrm>
            <a:off x="8229600" y="5212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EV Projects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3F8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134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battery switching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3F8F7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26280" y="23134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charging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3F8F7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21040" y="23134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protection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3F8F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3776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battery life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43400" y="31546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3F8F7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3776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energy utilization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1546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3F8F7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21040" y="3776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vehicle operation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3F8F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" y="52395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maintenance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43400" y="46177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3F8F7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26280" y="52395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38160" y="46177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3F8F7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321040" y="52395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battery safety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947672"/>
            <a:ext cx="0" cy="420624"/>
          </a:xfrm>
          <a:prstGeom prst="line">
            <a:avLst/>
          </a:prstGeom>
          <a:noFill/>
          <a:ln w="19050">
            <a:solidFill>
              <a:srgbClr val="D6E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Remote Monitoring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2514600"/>
            <a:ext cx="0" cy="420624"/>
          </a:xfrm>
          <a:prstGeom prst="line">
            <a:avLst/>
          </a:prstGeom>
          <a:noFill/>
          <a:ln w="19050">
            <a:solidFill>
              <a:srgbClr val="D6E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128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3081528"/>
            <a:ext cx="0" cy="420624"/>
          </a:xfrm>
          <a:prstGeom prst="line">
            <a:avLst/>
          </a:prstGeom>
          <a:noFill/>
          <a:ln w="19050">
            <a:solidFill>
              <a:srgbClr val="D6E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97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/ Wi-Fi Connectivity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021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3648456"/>
            <a:ext cx="0" cy="420624"/>
          </a:xfrm>
          <a:prstGeom prst="line">
            <a:avLst/>
          </a:prstGeom>
          <a:noFill/>
          <a:ln w="19050">
            <a:solidFill>
              <a:srgbClr val="D6E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467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/ OLED Display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4215384"/>
            <a:ext cx="0" cy="0"/>
          </a:xfrm>
          <a:prstGeom prst="line">
            <a:avLst/>
          </a:prstGeom>
          <a:noFill/>
          <a:ln w="19050">
            <a:solidFill>
              <a:srgbClr val="D6E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136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Integration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18013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3952" y="1947672"/>
            <a:ext cx="0" cy="420624"/>
          </a:xfrm>
          <a:prstGeom prst="line">
            <a:avLst/>
          </a:prstGeom>
          <a:noFill/>
          <a:ln w="19050">
            <a:solidFill>
              <a:srgbClr val="D6E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236829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3952" y="2514600"/>
            <a:ext cx="0" cy="420624"/>
          </a:xfrm>
          <a:prstGeom prst="line">
            <a:avLst/>
          </a:prstGeom>
          <a:noFill/>
          <a:ln w="19050">
            <a:solidFill>
              <a:srgbClr val="D6E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2128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Charge (SOC) Monitoring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9352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3952" y="3081528"/>
            <a:ext cx="0" cy="420624"/>
          </a:xfrm>
          <a:prstGeom prst="line">
            <a:avLst/>
          </a:prstGeom>
          <a:noFill/>
          <a:ln w="19050">
            <a:solidFill>
              <a:srgbClr val="D6E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7797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Health (SOH) Analysis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5021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3952" y="3648456"/>
            <a:ext cx="0" cy="420624"/>
          </a:xfrm>
          <a:prstGeom prst="line">
            <a:avLst/>
          </a:prstGeom>
          <a:noFill/>
          <a:ln w="19050">
            <a:solidFill>
              <a:srgbClr val="D6E8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3467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Logging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40690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Shape 30"/>
          <p:cNvSpPr/>
          <p:nvPr/>
        </p:nvSpPr>
        <p:spPr>
          <a:xfrm>
            <a:off x="6473952" y="4215384"/>
            <a:ext cx="0" cy="0"/>
          </a:xfrm>
          <a:prstGeom prst="line">
            <a:avLst/>
          </a:prstGeom>
          <a:noFill/>
          <a:ln w="19050">
            <a:solidFill>
              <a:srgbClr val="D6E8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9136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Braking Integration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2377440" cy="192024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4069080"/>
            <a:ext cx="2377440" cy="1920240"/>
          </a:xfrm>
          <a:prstGeom prst="roundRect">
            <a:avLst>
              <a:gd name="adj" fmla="val 7143"/>
            </a:avLst>
          </a:prstGeom>
          <a:solidFill>
            <a:srgbClr val="0F3B3F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3931920"/>
            <a:ext cx="2377440" cy="1920240"/>
          </a:xfrm>
          <a:prstGeom prst="roundRect">
            <a:avLst>
              <a:gd name="adj" fmla="val 7143"/>
            </a:avLst>
          </a:prstGeom>
          <a:solidFill>
            <a:srgbClr val="0F3B3F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4663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Management System for Electric Vehicles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14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code, wiring diagrams, and setup instructions available on GitHub.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2026-07-30T10:42:28Z</dcterms:created>
  <dcterms:modified xsi:type="dcterms:W3CDTF">2026-07-30T10:42:28Z</dcterms:modified>
</cp:coreProperties>
</file>